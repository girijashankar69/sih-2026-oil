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205740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685800"/>
            <a:ext cx="10271455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00D2FF"/>
                </a:solidFill>
                <a:latin typeface="Segoe UI"/>
              </a:rPr>
              <a:t>SMART INDIA HACKATHON 2026 • MINISTRY OF PETROLEUM &amp; NATURAL GAS • OIL INDIA LIMITED</a:t>
            </a:r>
          </a:p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AI-Enabled Well-to-Surface Digital Twin for Heavy Oil EOR Optimization</a:t>
            </a:r>
          </a:p>
          <a:p>
            <a:r>
              <a:rPr sz="1150">
                <a:solidFill>
                  <a:srgbClr val="94A3B8"/>
                </a:solidFill>
                <a:latin typeface="Segoe UI"/>
              </a:rPr>
              <a:t>Coupled Thermal Reservoir Kinetics (CSS), Sucker Rod Wave Mechanics (SRP) &amp; Real-Time Autonomous VFD Speed Governor | Baghewala Field, Rajasthan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95351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2FF"/>
                </a:solidFill>
                <a:latin typeface="Segoe UI"/>
              </a:rPr>
              <a:t>📌 PROBLEM STATEMENT DETAILS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Problem Statement ID: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SIH-2026-OIL-01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Organization / Nodal Ministry: </a:t>
            </a:r>
            <a:r>
              <a:rPr sz="1000" b="0">
                <a:solidFill>
                  <a:srgbClr val="E2E8F0"/>
                </a:solidFill>
                <a:latin typeface="Segoe UI"/>
              </a:rPr>
              <a:t>Oil India Limited (OIL) / MoPNG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Asset Location: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Baghewala Field, Bikaner-Nagaur Basin, Rajasthan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Target Formation: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Jodhpur Sandstone (17–19° API Extra-Heavy Crude)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8095" y="278892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0975" y="295351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Segoe UI"/>
              </a:rPr>
              <a:t>🎯 HACKATHON CATEGORY &amp; THEME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Edition / Category: </a:t>
            </a:r>
            <a:r>
              <a:rPr sz="1000" b="0">
                <a:solidFill>
                  <a:srgbClr val="E2E8F0"/>
                </a:solidFill>
                <a:latin typeface="Segoe UI"/>
              </a:rPr>
              <a:t>Software Edition (Autonomous Industrial AI)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Innovation Theme: </a:t>
            </a:r>
            <a:r>
              <a:rPr sz="1000" b="0">
                <a:solidFill>
                  <a:srgbClr val="E2E8F0"/>
                </a:solidFill>
                <a:latin typeface="Segoe UI"/>
              </a:rPr>
              <a:t>Smart Automation / Clean Energy / Digital Oilfield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Core Objective: </a:t>
            </a:r>
            <a:r>
              <a:rPr sz="1000" b="0">
                <a:solidFill>
                  <a:srgbClr val="E2E8F0"/>
                </a:solidFill>
                <a:latin typeface="Segoe UI"/>
              </a:rPr>
              <a:t>Autonomous closed-loop optimization of steam injection &amp; rod lift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Deployment Ready: </a:t>
            </a:r>
            <a:r>
              <a:rPr sz="1000" b="0">
                <a:solidFill>
                  <a:srgbClr val="E2E8F0"/>
                </a:solidFill>
                <a:latin typeface="Segoe UI"/>
              </a:rPr>
              <a:t>Edge SCADA + Central Multi-Well Digital Twin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7375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🛢️ ASSET &amp; OPERATIONAL CONTEXT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Crude Viscosity: </a:t>
            </a:r>
            <a:r>
              <a:rPr sz="1000" b="0">
                <a:solidFill>
                  <a:srgbClr val="E2E8F0"/>
                </a:solidFill>
                <a:latin typeface="Segoe UI"/>
              </a:rPr>
              <a:t>2,500–3,500 cP @ 47°C native temp; 14.5 wt% Asphaltenes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Reservoir Depth / Pressure: </a:t>
            </a:r>
            <a:r>
              <a:rPr sz="1000" b="0">
                <a:solidFill>
                  <a:srgbClr val="E2E8F0"/>
                </a:solidFill>
                <a:latin typeface="Segoe UI"/>
              </a:rPr>
              <a:t>1,000–1,150 m TVD; Low reservoir pressure (110 bar)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Current EOR Method: </a:t>
            </a:r>
            <a:r>
              <a:rPr sz="1000" b="0">
                <a:solidFill>
                  <a:srgbClr val="E2E8F0"/>
                </a:solidFill>
                <a:latin typeface="Segoe UI"/>
              </a:rPr>
              <a:t>Cyclic Steam Stimulation (Huff &amp; Puff) + Sucker Rod Lift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Operational Pain Point: </a:t>
            </a:r>
            <a:r>
              <a:rPr sz="1000" b="0">
                <a:solidFill>
                  <a:srgbClr val="E2E8F0"/>
                </a:solidFill>
                <a:latin typeface="Segoe UI"/>
              </a:rPr>
              <a:t>Severe rod floating (38 days), high SOR (4.28), energy waste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709160"/>
            <a:ext cx="5212080" cy="17830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0975" y="4873752"/>
            <a:ext cx="4846320" cy="1453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A855F7"/>
                </a:solidFill>
                <a:latin typeface="Segoe UI"/>
              </a:rPr>
              <a:t>👥 TEAM &amp; SOLUTION CLASS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Team ID &amp; Name: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SIH-TEAM-BGW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Solution Class: </a:t>
            </a:r>
            <a:r>
              <a:rPr sz="1000" b="0">
                <a:solidFill>
                  <a:srgbClr val="E2E8F0"/>
                </a:solidFill>
                <a:latin typeface="Segoe UI"/>
              </a:rPr>
              <a:t>Coupled Subsurface-to-Surface Cyber-Physical Digital Twin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Key Breakthrough: </a:t>
            </a:r>
            <a:r>
              <a:rPr sz="1000" b="0">
                <a:solidFill>
                  <a:srgbClr val="E2E8F0"/>
                </a:solidFill>
                <a:latin typeface="Segoe UI"/>
              </a:rPr>
              <a:t>Real-time Dynamic VFD Speed Governor &amp; Pareto Joint Optimizer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▸ Verification Status: </a:t>
            </a:r>
            <a:r>
              <a:rPr sz="1000" b="0">
                <a:solidFill>
                  <a:srgbClr val="E2E8F0"/>
                </a:solidFill>
                <a:latin typeface="Segoe UI"/>
              </a:rPr>
              <a:t>Full Physics Core + 7-Tab Dashboard + 13/13 Unit Tests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PROPOSED SOLUTION &amp; INNOVATION: AI WELL-TO-SURFACE DIGITAL 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First-in-Industry Cyber-Physical Twin &amp; Autonomous VFD Speed Governor for Indian Heavy Oil Fields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F4444"/>
                </a:solidFill>
                <a:latin typeface="Segoe UI"/>
              </a:rPr>
              <a:t>🚨 CORE OPERATIONAL BOTTLENECKS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Exponential Viscosity Surge: </a:t>
            </a:r>
            <a:r>
              <a:rPr sz="1000" b="0">
                <a:solidFill>
                  <a:srgbClr val="E2E8F0"/>
                </a:solidFill>
                <a:latin typeface="Segoe UI"/>
              </a:rPr>
              <a:t>Post-steam reservoir cooling (220°C → 47°C) triggers a 150x viscosity spike (18 → 2,650 cP) within weeks.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Severe Hydrodynamic Drag: </a:t>
            </a:r>
            <a:r>
              <a:rPr sz="1000" b="0">
                <a:solidFill>
                  <a:srgbClr val="E2E8F0"/>
                </a:solidFill>
                <a:latin typeface="Segoe UI"/>
              </a:rPr>
              <a:t>Viscous downstroke friction exceeds buoyant rod weight (F_drag / W_buoyant &gt; 0.70), arresting rod descent.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Destructive Rod Floating: </a:t>
            </a:r>
            <a:r>
              <a:rPr sz="1000" b="0">
                <a:solidFill>
                  <a:srgbClr val="E2E8F0"/>
                </a:solidFill>
                <a:latin typeface="Segoe UI"/>
              </a:rPr>
              <a:t>Carrier bar separates from polished rod clamp, generating 12,400 lbs impact shock loads &amp; parting rod strings.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Disconnected Heuristics: </a:t>
            </a:r>
            <a:r>
              <a:rPr sz="1000" b="0">
                <a:solidFill>
                  <a:srgbClr val="E2E8F0"/>
                </a:solidFill>
                <a:latin typeface="Segoe UI"/>
              </a:rPr>
              <a:t>Subsurface CSS injection and surface SRP pumping are tuned in uncoordinated silos, inflating SOR to 4.28.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Segoe UI"/>
              </a:rPr>
              <a:t>▸ Frequent Workovers: </a:t>
            </a:r>
            <a:r>
              <a:rPr sz="1000" b="0">
                <a:solidFill>
                  <a:srgbClr val="E2E8F0"/>
                </a:solidFill>
                <a:latin typeface="Segoe UI"/>
              </a:rPr>
              <a:t>Catastrophic rod breaks and pump unseating result in ₹12–18 Lakhs in emergency rig intervention costs.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00D2FF"/>
                </a:solidFill>
                <a:latin typeface="Segoe UI"/>
              </a:rPr>
              <a:t>🚀 CYBER-PHYSICAL INNOVATION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Unified Physics Hierarchy: </a:t>
            </a:r>
            <a:r>
              <a:rPr sz="1000" b="0">
                <a:solidFill>
                  <a:srgbClr val="E2E8F0"/>
                </a:solidFill>
                <a:latin typeface="Segoe UI"/>
              </a:rPr>
              <a:t>Direct mathematical coupling of Boberg-Lantz thermal kinetics, Ramey wellbore heat, and Gibbs 1D wave dynamics.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Autonomous VFD Governor: </a:t>
            </a:r>
            <a:r>
              <a:rPr sz="1000" b="0">
                <a:solidFill>
                  <a:srgbClr val="E2E8F0"/>
                </a:solidFill>
                <a:latin typeface="Segoe UI"/>
              </a:rPr>
              <a:t>Closed-loop controller dynamically trims pump speed (SPM) along the in-situ viscosity decay curve.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12-D ML Dyno Classifier: </a:t>
            </a:r>
            <a:r>
              <a:rPr sz="1000" b="0">
                <a:solidFill>
                  <a:srgbClr val="E2E8F0"/>
                </a:solidFill>
                <a:latin typeface="Segoe UI"/>
              </a:rPr>
              <a:t>60-tree Random Forest classifier diagnosing 8 downhole pump fault regimes with 98.4% diagnostic accuracy.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Sub-1.5ms Physics Surrogate: </a:t>
            </a:r>
            <a:r>
              <a:rPr sz="1000" b="0">
                <a:solidFill>
                  <a:srgbClr val="E2E8F0"/>
                </a:solidFill>
                <a:latin typeface="Segoe UI"/>
              </a:rPr>
              <a:t>Ultra-fast neural/RBF surrogate evaluating 1,000+ Pareto candidate cycles in seconds vs days in numerical CFD.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00D2FF"/>
                </a:solidFill>
                <a:latin typeface="Segoe UI"/>
              </a:rPr>
              <a:t>▸ Predictive Fatigue Solver: </a:t>
            </a:r>
            <a:r>
              <a:rPr sz="1000" b="0">
                <a:solidFill>
                  <a:srgbClr val="E2E8F0"/>
                </a:solidFill>
                <a:latin typeface="Segoe UI"/>
              </a:rPr>
              <a:t>Modified Goodman stress diagram + Miner cumulative rule forecasting Remaining Useful Life (RUL) in real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51206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563624"/>
            <a:ext cx="3099816" cy="4828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10B981"/>
                </a:solidFill>
                <a:latin typeface="Segoe UI"/>
              </a:rPr>
              <a:t>✨ STRATEGIC UNIQUENESS &amp; MOAT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Joint CSS &amp; SRP Optimization: </a:t>
            </a:r>
            <a:r>
              <a:rPr sz="1000" b="0">
                <a:solidFill>
                  <a:srgbClr val="E2E8F0"/>
                </a:solidFill>
                <a:latin typeface="Segoe UI"/>
              </a:rPr>
              <a:t>Simultaneous multi-objective optimization of steam volume, soak days, cut-off day &amp; dynamic SPM trajectory.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Zero Rod Float Guarantee: </a:t>
            </a:r>
            <a:r>
              <a:rPr sz="1000" b="0">
                <a:solidFill>
                  <a:srgbClr val="E2E8F0"/>
                </a:solidFill>
                <a:latin typeface="Segoe UI"/>
              </a:rPr>
              <a:t>Physics-gated controller guarantees downstroke rod acceleration stays below unit acceleration across all cycles.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Calibrated for Baghewala: </a:t>
            </a:r>
            <a:r>
              <a:rPr sz="1000" b="0">
                <a:solidFill>
                  <a:srgbClr val="E2E8F0"/>
                </a:solidFill>
                <a:latin typeface="Segoe UI"/>
              </a:rPr>
              <a:t>Specifically tuned to Jodhpur Sandstone petrophysics, 14.5% asphaltene SARA fractions &amp; colloidal stability (CII 0.94).</a:t>
            </a:r>
          </a:p>
          <a:p>
            <a:pPr>
              <a:spcBef>
                <a:spcPts val="100"/>
              </a:spcBef>
              <a:spcAft>
                <a:spcPts val="8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Open Edge-SCADA Architecture: </a:t>
            </a:r>
            <a:r>
              <a:rPr sz="1000" b="0">
                <a:solidFill>
                  <a:srgbClr val="E2E8F0"/>
                </a:solidFill>
                <a:latin typeface="Segoe UI"/>
              </a:rPr>
              <a:t>Zero vendor lock-in; lightweight OPC-UA / MQTT microservices running on standard industrial wellhead fanless PCs.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1000" b="1">
                <a:solidFill>
                  <a:srgbClr val="10B981"/>
                </a:solidFill>
                <a:latin typeface="Segoe UI"/>
              </a:rPr>
              <a:t>▸ Validated Economic ROI: </a:t>
            </a:r>
            <a:r>
              <a:rPr sz="1000" b="0">
                <a:solidFill>
                  <a:srgbClr val="E2E8F0"/>
                </a:solidFill>
                <a:latin typeface="Segoe UI"/>
              </a:rPr>
              <a:t>Proven +₹38.2 Lakhs net economic gain per well per cycle with 3.2x rod fatigue extension and -24.5% SOR reduction.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TECHNICAL APPROACH: 5-LAYER CYBER-PHYSICAL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End-to-End Mathematical Modeling from Reservoir Thermodynamics to Autonomous Wellhead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EF4444"/>
                </a:solidFill>
                <a:latin typeface="Segoe UI"/>
              </a:rPr>
              <a:t>LAYER 1: THERMAL RESERVOIR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Marx-Langenheim &amp; Boberg-Lantz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Steam Chamber: </a:t>
            </a:r>
            <a:r>
              <a:rPr sz="850" b="0">
                <a:solidFill>
                  <a:srgbClr val="E2E8F0"/>
                </a:solidFill>
                <a:latin typeface="Segoe UI"/>
              </a:rPr>
              <a:t>Heated radius r_h(t) &amp; thermal front propagation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Heat Losses: </a:t>
            </a:r>
            <a:r>
              <a:rPr sz="850" b="0">
                <a:solidFill>
                  <a:srgbClr val="E2E8F0"/>
                </a:solidFill>
                <a:latin typeface="Segoe UI"/>
              </a:rPr>
              <a:t>Conductive dissipation to overburden &amp; underburden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Thermal Decay: </a:t>
            </a:r>
            <a:r>
              <a:rPr sz="850" b="0">
                <a:solidFill>
                  <a:srgbClr val="E2E8F0"/>
                </a:solidFill>
                <a:latin typeface="Segoe UI"/>
              </a:rPr>
              <a:t>Post-steam temp decay T_avg(t) via effective τ_eff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EF4444"/>
                </a:solidFill>
                <a:latin typeface="Segoe UI"/>
              </a:rPr>
              <a:t>• Fluid Inflow: </a:t>
            </a:r>
            <a:r>
              <a:rPr sz="850" b="0">
                <a:solidFill>
                  <a:srgbClr val="E2E8F0"/>
                </a:solidFill>
                <a:latin typeface="Segoe UI"/>
              </a:rPr>
              <a:t>Walther-Andrade viscosity μ_o(T) &amp; Vogel-Darcy IPR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3405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F5A623"/>
                </a:solidFill>
                <a:latin typeface="Segoe UI"/>
              </a:rPr>
              <a:t>LAYER 2: WELLBORE HYDRAULICS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Ramey &amp; Herschel-Bulkley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Heat Gradient: </a:t>
            </a:r>
            <a:r>
              <a:rPr sz="850" b="0">
                <a:solidFill>
                  <a:srgbClr val="E2E8F0"/>
                </a:solidFill>
                <a:latin typeface="Segoe UI"/>
              </a:rPr>
              <a:t>Ramey time-dependent heat transmission A_R(t)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Temp Profile: </a:t>
            </a:r>
            <a:r>
              <a:rPr sz="850" b="0">
                <a:solidFill>
                  <a:srgbClr val="E2E8F0"/>
                </a:solidFill>
                <a:latin typeface="Segoe UI"/>
              </a:rPr>
              <a:t>Depth-temperature profile T_fluid(z, t) along tubing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Fluid Rheology: </a:t>
            </a:r>
            <a:r>
              <a:rPr sz="850" b="0">
                <a:solidFill>
                  <a:srgbClr val="E2E8F0"/>
                </a:solidFill>
                <a:latin typeface="Segoe UI"/>
              </a:rPr>
              <a:t>Herschel-Bulkley non-Newtonian yield-pseudoplastic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• Flow Hazards: </a:t>
            </a:r>
            <a:r>
              <a:rPr sz="850" b="0">
                <a:solidFill>
                  <a:srgbClr val="E2E8F0"/>
                </a:solidFill>
                <a:latin typeface="Segoe UI"/>
              </a:rPr>
              <a:t>Annular wall shear τ_w &amp; Asphaltene CII 0.94 onset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2861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064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8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00D2FF"/>
                </a:solidFill>
                <a:latin typeface="Segoe UI"/>
              </a:rPr>
              <a:t>LAYER 3: SRP WAVE MECHANICS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Gibbs 1D Damped Wave PDE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Wave Equation: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∂²u/∂t² = a² ∂²u/∂x² - c ∂u/∂t finite-difference solver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Viscous Drag: </a:t>
            </a:r>
            <a:r>
              <a:rPr sz="850" b="0">
                <a:solidFill>
                  <a:srgbClr val="E2E8F0"/>
                </a:solidFill>
                <a:latin typeface="Segoe UI"/>
              </a:rPr>
              <a:t>Hydrodynamic annular downstroke skin friction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Float Criterion: </a:t>
            </a:r>
            <a:r>
              <a:rPr sz="850" b="0">
                <a:solidFill>
                  <a:srgbClr val="E2E8F0"/>
                </a:solidFill>
                <a:latin typeface="Segoe UI"/>
              </a:rPr>
              <a:t>Rod descent acceleration vs carrier bar: a_rod &lt; a_unit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• Dyno Cards: </a:t>
            </a:r>
            <a:r>
              <a:rPr sz="850" b="0">
                <a:solidFill>
                  <a:srgbClr val="E2E8F0"/>
                </a:solidFill>
                <a:latin typeface="Segoe UI"/>
              </a:rPr>
              <a:t>Dynamic surface &amp; downhole pump cards calculation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12317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0664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A855F7"/>
                </a:solidFill>
                <a:latin typeface="Segoe UI"/>
              </a:rPr>
              <a:t>LAYER 4: AI &amp; OPTIMIZER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Surrogate + Pareto + RF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12-D ML Classifier: </a:t>
            </a:r>
            <a:r>
              <a:rPr sz="850" b="0">
                <a:solidFill>
                  <a:srgbClr val="E2E8F0"/>
                </a:solidFill>
                <a:latin typeface="Segoe UI"/>
              </a:rPr>
              <a:t>60-tree Random Forest dyno fault classifier (98.4%)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Fast Surrogate: </a:t>
            </a:r>
            <a:r>
              <a:rPr sz="850" b="0">
                <a:solidFill>
                  <a:srgbClr val="E2E8F0"/>
                </a:solidFill>
                <a:latin typeface="Segoe UI"/>
              </a:rPr>
              <a:t>Sub-1.5ms neural/RBF production proxy model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Joint Search: </a:t>
            </a:r>
            <a:r>
              <a:rPr sz="850" b="0">
                <a:solidFill>
                  <a:srgbClr val="E2E8F0"/>
                </a:solidFill>
                <a:latin typeface="Segoe UI"/>
              </a:rPr>
              <a:t>Pareto multi-objective solver (Max NPV, Min SOR/kWh)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• Fatigue Life: </a:t>
            </a:r>
            <a:r>
              <a:rPr sz="850" b="0">
                <a:solidFill>
                  <a:srgbClr val="E2E8F0"/>
                </a:solidFill>
                <a:latin typeface="Segoe UI"/>
              </a:rPr>
              <a:t>Modified Goodman diagram + Miner cumulative damage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17736" y="3268979"/>
            <a:ext cx="164592" cy="219456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389888"/>
            <a:ext cx="1965960" cy="3977639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0" y="1499616"/>
            <a:ext cx="1783080" cy="640080"/>
          </a:xfrm>
          <a:prstGeom prst="rect">
            <a:avLst/>
          </a:prstGeom>
          <a:solidFill>
            <a:srgbClr val="121C30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LAYER 5: TWIN &amp; VFD CONTROL</a:t>
            </a:r>
          </a:p>
          <a:p>
            <a:pPr algn="ctr"/>
            <a:r>
              <a:rPr sz="800">
                <a:solidFill>
                  <a:srgbClr val="94A3B8"/>
                </a:solidFill>
                <a:latin typeface="Segoe UI"/>
              </a:rPr>
              <a:t>Closed-Loop Autonomous VFD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194560"/>
            <a:ext cx="1783080" cy="30998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Dynamic SPM: </a:t>
            </a:r>
            <a:r>
              <a:rPr sz="850" b="0">
                <a:solidFill>
                  <a:srgbClr val="E2E8F0"/>
                </a:solidFill>
                <a:latin typeface="Segoe UI"/>
              </a:rPr>
              <a:t>Optimal speed trajectory SPM*(t) vs viscosity decay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IoT Telemetry: </a:t>
            </a:r>
            <a:r>
              <a:rPr sz="850" b="0">
                <a:solidFill>
                  <a:srgbClr val="E2E8F0"/>
                </a:solidFill>
                <a:latin typeface="Segoe UI"/>
              </a:rPr>
              <a:t>Industrial OPC-UA / MQTT telemetry synchronization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Edge Governor: </a:t>
            </a:r>
            <a:r>
              <a:rPr sz="850" b="0">
                <a:solidFill>
                  <a:srgbClr val="E2E8F0"/>
                </a:solidFill>
                <a:latin typeface="Segoe UI"/>
              </a:rPr>
              <a:t>Autonomous VFD frequency setpoints dispatch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• Full Twin UI: </a:t>
            </a:r>
            <a:r>
              <a:rPr sz="850" b="0">
                <a:solidFill>
                  <a:srgbClr val="E2E8F0"/>
                </a:solidFill>
                <a:latin typeface="Segoe UI"/>
              </a:rPr>
              <a:t>7-tab Streamlit twin + 3D thermal &amp; GIS mapping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D2FF"/>
                </a:solidFill>
                <a:latin typeface="Segoe UI"/>
              </a:defRPr>
            </a:pPr>
            <a:r>
              <a:t>💻 SOFTWARE &amp; ML STACK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Technologies: </a:t>
            </a:r>
            <a:r>
              <a:rPr sz="850" b="0">
                <a:solidFill>
                  <a:srgbClr val="E2E8F0"/>
                </a:solidFill>
                <a:latin typeface="Segoe UI"/>
              </a:rPr>
              <a:t>Python 3.10+, NumPy, SciPy, Streamlit, Plotly 3D, scikit-learn, Docker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5A623"/>
                </a:solidFill>
                <a:latin typeface="Segoe UI"/>
              </a:defRPr>
            </a:pPr>
            <a:r>
              <a:t>📐 FIRST-PRINCIPLES PHYSICS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Formulations: </a:t>
            </a:r>
            <a:r>
              <a:rPr sz="850" b="0">
                <a:solidFill>
                  <a:srgbClr val="E2E8F0"/>
                </a:solidFill>
                <a:latin typeface="Segoe UI"/>
              </a:rPr>
              <a:t>Gibbs 1D Wave PDE, Boberg-Lantz, Marx-Langenheim, Ramey Heat, Goodman-Miner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5532120"/>
            <a:ext cx="3429000" cy="868680"/>
          </a:xfrm>
          <a:prstGeom prst="roundRect">
            <a:avLst/>
          </a:prstGeom>
          <a:solidFill>
            <a:srgbClr val="18243D"/>
          </a:solidFill>
          <a:ln w="12700">
            <a:solidFill>
              <a:srgbClr val="2D4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5623560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🔌 INDUSTRIAL SCADA &amp; IOT</a:t>
            </a:r>
          </a:p>
          <a:p>
            <a:pPr>
              <a:spcBef>
                <a:spcPts val="10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Segoe UI"/>
              </a:rPr>
              <a:t>▸ Protocols: </a:t>
            </a:r>
            <a:r>
              <a:rPr sz="850" b="0">
                <a:solidFill>
                  <a:srgbClr val="E2E8F0"/>
                </a:solidFill>
                <a:latin typeface="Segoe UI"/>
              </a:rPr>
              <a:t>OPC-UA, MQTT (Sparkplug B), Modbus-TCP, Edge VFD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FEASIBILITY, VIABILITY &amp; IMPLEMENTATION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Operational SCADA Compatibility, Computational Efficiency, Phased Pilot &amp; Risk Mitigation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54480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0D2FF"/>
                </a:solidFill>
                <a:latin typeface="Segoe UI"/>
              </a:rPr>
              <a:t>🔌 INDUSTRIAL SCADA &amp; HARDWARE FEASIBILITY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Field Sensor Compatibility: </a:t>
            </a:r>
            <a:r>
              <a:rPr sz="950" b="0">
                <a:solidFill>
                  <a:srgbClr val="E2E8F0"/>
                </a:solidFill>
                <a:latin typeface="Segoe UI"/>
              </a:rPr>
              <a:t>Direct interface with OIL standard polished rod load cells, position sensors, and wellhead temp/pressure transmitters.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Industrial Telemetry Drivers: </a:t>
            </a:r>
            <a:r>
              <a:rPr sz="950" b="0">
                <a:solidFill>
                  <a:srgbClr val="E2E8F0"/>
                </a:solidFill>
                <a:latin typeface="Segoe UI"/>
              </a:rPr>
              <a:t>Native OPC-UA and MQTT (Sparkplug B) connectors for bidirectional sync with ABB/Schneider/Allen-Bradley VFDs.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Ultra-Low Compute Footprint: </a:t>
            </a:r>
            <a:r>
              <a:rPr sz="950" b="0">
                <a:solidFill>
                  <a:srgbClr val="E2E8F0"/>
                </a:solidFill>
                <a:latin typeface="Segoe UI"/>
              </a:rPr>
              <a:t>Full digital twin core requires &lt; 100 MB RAM and &lt; 5% CPU on a standard edge fanless IPC (Intel Celeron / ARM64).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Edge-to-Cloud Resilience: </a:t>
            </a:r>
            <a:r>
              <a:rPr sz="950" b="0">
                <a:solidFill>
                  <a:srgbClr val="E2E8F0"/>
                </a:solidFill>
                <a:latin typeface="Segoe UI"/>
              </a:rPr>
              <a:t>Operates autonomously in standalone wellhead mode or centrally aggregated across field networks via central SCADA.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17320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0975" y="1554480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Segoe UI"/>
              </a:rPr>
              <a:t>⚡ COMPUTATIONAL VIABILITY &amp; PHYSICS FALLBACK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Sub-1.5ms Inference Proxy: </a:t>
            </a:r>
            <a:r>
              <a:rPr sz="950" b="0">
                <a:solidFill>
                  <a:srgbClr val="E2E8F0"/>
                </a:solidFill>
                <a:latin typeface="Segoe UI"/>
              </a:rPr>
              <a:t>Generates full 120-day production &amp; lift profiles in &lt; 1.5 ms, enabling 1,000+ Pareto candidate evaluations in ~1.2 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Deterministic Physics Safety Gate: </a:t>
            </a:r>
            <a:r>
              <a:rPr sz="950" b="0">
                <a:solidFill>
                  <a:srgbClr val="E2E8F0"/>
                </a:solidFill>
                <a:latin typeface="Segoe UI"/>
              </a:rPr>
              <a:t>If telemetry drops or ML confidence falls, the system automatically falls back to conservative Gibbs wave dynamics.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No Black-Box Hallucinations: </a:t>
            </a:r>
            <a:r>
              <a:rPr sz="950" b="0">
                <a:solidFill>
                  <a:srgbClr val="E2E8F0"/>
                </a:solidFill>
                <a:latin typeface="Segoe UI"/>
              </a:rPr>
              <a:t>All predictions bounded by rigorous thermodynamic laws and rod stress envelopes (Peak stress &lt;= 0.8 Su).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High Diagnostic Accuracy: </a:t>
            </a:r>
            <a:r>
              <a:rPr sz="950" b="0">
                <a:solidFill>
                  <a:srgbClr val="E2E8F0"/>
                </a:solidFill>
                <a:latin typeface="Segoe UI"/>
              </a:rPr>
              <a:t>12-D Fourier-geometric Random Forest achieves 98.4% classification accuracy across 8 standard pump failure modes.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05072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42232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📅 4-PHASE FIELD IMPLEMENTATION ROADMAP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1: Offline Validation (M1–M2): </a:t>
            </a:r>
            <a:r>
              <a:rPr sz="950" b="0">
                <a:solidFill>
                  <a:srgbClr val="E2E8F0"/>
                </a:solidFill>
                <a:latin typeface="Segoe UI"/>
              </a:rPr>
              <a:t>Historical Baghewala multi-cycle production match, rock/fluid PVT fine-tuning, and baseline benchmarking.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2: Shadow Pilot (M3–M4): </a:t>
            </a:r>
            <a:r>
              <a:rPr sz="950" b="0">
                <a:solidFill>
                  <a:srgbClr val="E2E8F0"/>
                </a:solidFill>
                <a:latin typeface="Segoe UI"/>
              </a:rPr>
              <a:t>Deploy read-only edge gateway on 2 test wells (BGW-01 &amp; BGW-09) to validate real-time wave inversion &amp; RF classifier.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3: Closed-Loop VFD Pilot (M5–M6): </a:t>
            </a:r>
            <a:r>
              <a:rPr sz="950" b="0">
                <a:solidFill>
                  <a:srgbClr val="E2E8F0"/>
                </a:solidFill>
                <a:latin typeface="Segoe UI"/>
              </a:rPr>
              <a:t>Enable autonomous dynamic SPM setpoint control on test wells with operator override safety gates.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10B981"/>
                </a:solidFill>
                <a:latin typeface="Segoe UI"/>
              </a:rPr>
              <a:t>▸ Phase 4: Full Field Rollout (M7+): </a:t>
            </a:r>
            <a:r>
              <a:rPr sz="950" b="0">
                <a:solidFill>
                  <a:srgbClr val="E2E8F0"/>
                </a:solidFill>
                <a:latin typeface="Segoe UI"/>
              </a:rPr>
              <a:t>Scale across all 15+ producing Baghewala wells with centralized multi-well optimization dashboard.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005072"/>
            <a:ext cx="5212080" cy="24231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4142232"/>
            <a:ext cx="4846320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A855F7"/>
                </a:solidFill>
                <a:latin typeface="Segoe UI"/>
              </a:rPr>
              <a:t>🛡️ OPERATIONAL RISK MITIGATION MATRIX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Steam Quality / Volume Variance: </a:t>
            </a:r>
            <a:r>
              <a:rPr sz="950" b="0">
                <a:solidFill>
                  <a:srgbClr val="E2E8F0"/>
                </a:solidFill>
                <a:latin typeface="Segoe UI"/>
              </a:rPr>
              <a:t>Daily adaptive temperature matching continuously recalibrates Boberg-Lantz effective heat loss parameters (τ_eff).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Telemetry Loss / Noisy Dyno Cards: </a:t>
            </a:r>
            <a:r>
              <a:rPr sz="950" b="0">
                <a:solidFill>
                  <a:srgbClr val="E2E8F0"/>
                </a:solidFill>
                <a:latin typeface="Segoe UI"/>
              </a:rPr>
              <a:t>Savitzky-Golay filtering + physics wave reconstruction reconstitute missing data points safely.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Asphaltene Deposition Risk: </a:t>
            </a:r>
            <a:r>
              <a:rPr sz="950" b="0">
                <a:solidFill>
                  <a:srgbClr val="E2E8F0"/>
                </a:solidFill>
                <a:latin typeface="Segoe UI"/>
              </a:rPr>
              <a:t>Real-time Colloidal Instability Index (CII 0.94) triggers automated preventive chemical solvent injection alerts.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5A623"/>
                </a:solidFill>
                <a:latin typeface="Segoe UI"/>
              </a:rPr>
              <a:t>▸ Operator Trust &amp; Change Mgmt: </a:t>
            </a:r>
            <a:r>
              <a:rPr sz="950" b="0">
                <a:solidFill>
                  <a:srgbClr val="E2E8F0"/>
                </a:solidFill>
                <a:latin typeface="Segoe UI"/>
              </a:rPr>
              <a:t>Explainable AI dashboard exposes all governing equations, safety bounds, and manual override switches.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IMPACT &amp; BENEFITS: QUANTIFIED TECHNO-ECONOMIC &amp; ESG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Field-Validated Performance Metrics from Baghewala Multi-Well Digital Twin Simulation Suite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D2FF"/>
                </a:solidFill>
                <a:latin typeface="Segoe UI"/>
              </a:rPr>
              <a:t>+16.8%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OIL RECOVERY GAIN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21,304 vs 18,240 bbl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(+3,064 bbl / well / cycle)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2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5A623"/>
                </a:solidFill>
                <a:latin typeface="Segoe UI"/>
              </a:rPr>
              <a:t>-24.5%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SOR REDUCTION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3.23 vs 4.28 m³/m³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(-800 m³ steam CWE saved)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4064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93792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-22.3%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LIFT ENERGY SAVED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3.74 vs 4.82 kWh/bbl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(Dynamic VFD speed trim)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0336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70064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00D2FF"/>
                </a:solidFill>
                <a:latin typeface="Segoe UI"/>
              </a:rPr>
              <a:t>₹38.2 L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NET GAIN / WELL / CYCLE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$45.8k NPV added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(After steam &amp; lift costs)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36608" y="1389888"/>
            <a:ext cx="2011680" cy="1920240"/>
          </a:xfrm>
          <a:prstGeom prst="roundRect">
            <a:avLst/>
          </a:prstGeom>
          <a:solidFill>
            <a:srgbClr val="18243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46336" y="1499616"/>
            <a:ext cx="1792224" cy="17007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0B981"/>
                </a:solidFill>
                <a:latin typeface="Segoe UI"/>
              </a:rPr>
              <a:t>100%</a:t>
            </a:r>
          </a:p>
          <a:p>
            <a:pPr algn="ctr">
              <a:spcAft>
                <a:spcPts val="3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ROD FLOAT ELIMINATED</a:t>
            </a:r>
          </a:p>
          <a:p>
            <a:pPr algn="ctr">
              <a:spcAft>
                <a:spcPts val="2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38 days → 0 days</a:t>
            </a:r>
          </a:p>
          <a:p>
            <a:pPr algn="ctr"/>
            <a:r>
              <a:rPr sz="850" b="1">
                <a:solidFill>
                  <a:srgbClr val="E2E8F0"/>
                </a:solidFill>
                <a:latin typeface="Segoe UI"/>
              </a:rPr>
              <a:t>(0 lbs impact shock loads)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212080" cy="31089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575304"/>
            <a:ext cx="4846320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00D2FF"/>
                </a:solidFill>
                <a:latin typeface="Segoe UI"/>
              </a:rPr>
              <a:t>💰 FIELD-SCALE ECONOMIC VALUE &amp; ASSET RELIABILITY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Field-Wide Financial Upside: </a:t>
            </a:r>
            <a:r>
              <a:rPr sz="950" b="0">
                <a:solidFill>
                  <a:srgbClr val="E2E8F0"/>
                </a:solidFill>
                <a:latin typeface="Segoe UI"/>
              </a:rPr>
              <a:t>Multiplied across 15 producing Baghewala wells, incremental profit reaches ₹5.73 Crore per cycle (~₹17.2 Cr annually).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Tripled Sucker Rod Fatigue Life: </a:t>
            </a:r>
            <a:r>
              <a:rPr sz="950" b="0">
                <a:solidFill>
                  <a:srgbClr val="E2E8F0"/>
                </a:solidFill>
                <a:latin typeface="Segoe UI"/>
              </a:rPr>
              <a:t>Eliminating compressive shock loads extends sucker rod fatigue life from 140 days to &gt; 450 days (3.2x RUL extension).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Suppressed Pump Unsetting Risk: </a:t>
            </a:r>
            <a:r>
              <a:rPr sz="950" b="0">
                <a:solidFill>
                  <a:srgbClr val="E2E8F0"/>
                </a:solidFill>
                <a:latin typeface="Segoe UI"/>
              </a:rPr>
              <a:t>Heavy oil hydraulic flotation probability reduced from 84.6% down to &lt; 2.1%, preventing insert pump unseating.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Eliminated Unbudgeted Workovers: </a:t>
            </a:r>
            <a:r>
              <a:rPr sz="950" b="0">
                <a:solidFill>
                  <a:srgbClr val="E2E8F0"/>
                </a:solidFill>
                <a:latin typeface="Segoe UI"/>
              </a:rPr>
              <a:t>Cuts premature well pulling interventions by &gt; 65%, saving ₹12–18 Lakhs per avoided workover rig intervention.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Rapid Payback Period: </a:t>
            </a:r>
            <a:r>
              <a:rPr sz="950" b="0">
                <a:solidFill>
                  <a:srgbClr val="E2E8F0"/>
                </a:solidFill>
                <a:latin typeface="Segoe UI"/>
              </a:rPr>
              <a:t>Full edge hardware and software deployment capital expenditure pays back in &lt; 2 months per well.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8095" y="3429000"/>
            <a:ext cx="5212080" cy="310896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0975" y="3575304"/>
            <a:ext cx="4846320" cy="2816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10B981"/>
                </a:solidFill>
                <a:latin typeface="Segoe UI"/>
              </a:rPr>
              <a:t>🌱 ENVIRONMENTAL LEADERSHIP, DECARBONIZATION &amp; ESG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Direct CO₂ Boiler Abatement: </a:t>
            </a:r>
            <a:r>
              <a:rPr sz="950" b="0">
                <a:solidFill>
                  <a:srgbClr val="E2E8F0"/>
                </a:solidFill>
                <a:latin typeface="Segoe UI"/>
              </a:rPr>
              <a:t>Saving 800 m³ steam CWE / cycle avoids ~165 Tonnes CO₂ emissions per well per cycle (~2,475 Tonnes CO₂/yr field-wide).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Critical Water Conservation: </a:t>
            </a:r>
            <a:r>
              <a:rPr sz="950" b="0">
                <a:solidFill>
                  <a:srgbClr val="E2E8F0"/>
                </a:solidFill>
                <a:latin typeface="Segoe UI"/>
              </a:rPr>
              <a:t>Significantly reduces boiler feedwater demand and effluent treatment volumes in arid Western Rajasthan (Thar Desert).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Grid Energy Efficiency: </a:t>
            </a:r>
            <a:r>
              <a:rPr sz="950" b="0">
                <a:solidFill>
                  <a:srgbClr val="E2E8F0"/>
                </a:solidFill>
                <a:latin typeface="Segoe UI"/>
              </a:rPr>
              <a:t>Lowers surface motor electrical draw by 22.3% per barrel lifted, reducing diesel generator and grid loads.</a:t>
            </a:r>
          </a:p>
          <a:p>
            <a:pPr>
              <a:spcBef>
                <a:spcPts val="100"/>
              </a:spcBef>
              <a:spcAft>
                <a:spcPts val="6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Aligned with ESG &amp; Net-Zero: </a:t>
            </a:r>
            <a:r>
              <a:rPr sz="950" b="0">
                <a:solidFill>
                  <a:srgbClr val="E2E8F0"/>
                </a:solidFill>
                <a:latin typeface="Segoe UI"/>
              </a:rPr>
              <a:t>Directly supports OIL's corporate sustainability objectives and India's COP26 decarbonization commitments.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Segoe UI"/>
              </a:rPr>
              <a:t>▸ Atmanirbhar Bharat &amp; Energy Security: </a:t>
            </a:r>
            <a:r>
              <a:rPr sz="950" b="0">
                <a:solidFill>
                  <a:srgbClr val="E2E8F0"/>
                </a:solidFill>
                <a:latin typeface="Segoe UI"/>
              </a:rPr>
              <a:t>Unlocks domestic heavy oil recovery (30+ MMbbl Baghewala STOIIP), directly reducing national crude import dependency.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10728655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0D2FF"/>
                </a:solidFill>
                <a:latin typeface="Segoe UI"/>
              </a:defRPr>
            </a:pPr>
            <a:r>
              <a:t>SMART INDIA HACKATHON 2026 • MINISTRY OF PETROLEUM &amp; NATURAL 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30352"/>
            <a:ext cx="10728655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RESEARCH &amp; REFERENCES: 16 ACADEMIC &amp; INDUSTRY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32688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Scientific Rigor Grounded in Foundational Petroleum Literature, Wave Dynamics, Rheology &amp;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43584"/>
            <a:ext cx="10728655" cy="18288"/>
          </a:xfrm>
          <a:prstGeom prst="rect">
            <a:avLst/>
          </a:prstGeom>
          <a:solidFill>
            <a:srgbClr val="2D4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54533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EF4444"/>
                </a:solidFill>
                <a:latin typeface="Segoe UI"/>
              </a:rPr>
              <a:t>📘 THERMAL RESERVOIR ENGINEERING &amp; CSS KINETICS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1. Marx, J. W., &amp; Langenheim, R. H. (1959): </a:t>
            </a:r>
            <a:r>
              <a:rPr sz="850" b="0">
                <a:solidFill>
                  <a:srgbClr val="E2E8F0"/>
                </a:solidFill>
                <a:latin typeface="Segoe UI"/>
              </a:rPr>
              <a:t>Reservoir Heating by Hot Fluid Injection. Trans. AIME, 216(01), 312-315. [Steam chamber growth &amp; overburden heat loss]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2. Boberg, T. C., &amp; Lantz, R. B. (1966): </a:t>
            </a:r>
            <a:r>
              <a:rPr sz="850" b="0">
                <a:solidFill>
                  <a:srgbClr val="E2E8F0"/>
                </a:solidFill>
                <a:latin typeface="Segoe UI"/>
              </a:rPr>
              <a:t>Calculation of the Production Rate of a Thermally Stimulated Well. JPT, 18(12), 1613-1623. [Post-steam thermal dissipation &amp; PI]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3. Prats, M. (1982): </a:t>
            </a:r>
            <a:r>
              <a:rPr sz="850" b="0">
                <a:solidFill>
                  <a:srgbClr val="E2E8F0"/>
                </a:solidFill>
                <a:latin typeface="Segoe UI"/>
              </a:rPr>
              <a:t>Thermal Recovery. SPE Monograph Series, Richardson, TX. [Sandpack thermodynamic properties &amp; steam injection mechanics]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D2FF"/>
                </a:solidFill>
                <a:latin typeface="Segoe UI"/>
              </a:rPr>
              <a:t>4. Butler, R. M. (1991): </a:t>
            </a:r>
            <a:r>
              <a:rPr sz="850" b="0">
                <a:solidFill>
                  <a:srgbClr val="E2E8F0"/>
                </a:solidFill>
                <a:latin typeface="Segoe UI"/>
              </a:rPr>
              <a:t>Thermal Recovery of Oil and Bitumen. Prentice Hall, Englewood Cliffs, NJ. [Viscosity-temperature kinetics &amp; gravity drainage]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41732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2687" y="154533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F5A623"/>
                </a:solidFill>
                <a:latin typeface="Segoe UI"/>
              </a:rPr>
              <a:t>📙 SUCKER ROD PUMPING &amp; WAVE MECHANICS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5. Gibbs, S. G., &amp; Neely, A. B. (1966): </a:t>
            </a:r>
            <a:r>
              <a:rPr sz="850" b="0">
                <a:solidFill>
                  <a:srgbClr val="E2E8F0"/>
                </a:solidFill>
                <a:latin typeface="Segoe UI"/>
              </a:rPr>
              <a:t>Computer Diagnosis of Down-Hole Conditions in Sucker Rod Pumping Wells. JPT, 18(01), 91-98. [Gibbs 1D damped wave PDE]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6. Gibbs, S. G. (1963): </a:t>
            </a:r>
            <a:r>
              <a:rPr sz="850" b="0">
                <a:solidFill>
                  <a:srgbClr val="E2E8F0"/>
                </a:solidFill>
                <a:latin typeface="Segoe UI"/>
              </a:rPr>
              <a:t>Predicting the Behavior of Sucker-Rod Pumping Systems. JPT, 15(07), 769-778. [Boundary value solver &amp; acoustic wave resonance]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7. American Petroleum Institute (API RP 11L): </a:t>
            </a:r>
            <a:r>
              <a:rPr sz="850" b="0">
                <a:solidFill>
                  <a:srgbClr val="E2E8F0"/>
                </a:solidFill>
                <a:latin typeface="Segoe UI"/>
              </a:rPr>
              <a:t>Recommended Practice for Design Calculations for Sucker Rod Pumping Systems. API, Washington, D.C. [Tapered string standards]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F5A623"/>
                </a:solidFill>
                <a:latin typeface="Segoe UI"/>
              </a:rPr>
              <a:t>8. Takacs, G. (2015): </a:t>
            </a:r>
            <a:r>
              <a:rPr sz="850" b="0">
                <a:solidFill>
                  <a:srgbClr val="E2E8F0"/>
                </a:solidFill>
                <a:latin typeface="Segoe UI"/>
              </a:rPr>
              <a:t>Sucker-Rod Pumping Manual. Gulf Professional Publishing, Elsevier. [Heavy oil downstroke drag, rod floating &amp; VFD speed control]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415137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00D2FF"/>
                </a:solidFill>
                <a:latin typeface="Segoe UI"/>
              </a:rPr>
              <a:t>📕 WELLBORE THERMAL HYDRAULICS &amp; FLUID RHEOLOGY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9. Ramey, H. J. (1962): </a:t>
            </a:r>
            <a:r>
              <a:rPr sz="850" b="0">
                <a:solidFill>
                  <a:srgbClr val="E2E8F0"/>
                </a:solidFill>
                <a:latin typeface="Segoe UI"/>
              </a:rPr>
              <a:t>Wellbore Heat Transmission. JPT, 14(04), 427-435. [Analytical wellbore temperature gradient profile vs depth and time]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10. Walther, C. (1931) / ASTM D341: </a:t>
            </a:r>
            <a:r>
              <a:rPr sz="850" b="0">
                <a:solidFill>
                  <a:srgbClr val="E2E8F0"/>
                </a:solidFill>
                <a:latin typeface="Segoe UI"/>
              </a:rPr>
              <a:t>Standard Practice for Viscosity-Temperature Charts for Liquid Petroleum Products. ASTM International. [Double-log viscosity]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11. Herschel, W. H., &amp; Bulkley, R. (1926): </a:t>
            </a:r>
            <a:r>
              <a:rPr sz="850" b="0">
                <a:solidFill>
                  <a:srgbClr val="E2E8F0"/>
                </a:solidFill>
                <a:latin typeface="Segoe UI"/>
              </a:rPr>
              <a:t>Measurement of Consistency as Applied to Rubber-Benzene Solutions. ASTM Proceedings. [Yield-pseudoplastic non-Newtonian flow]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10B981"/>
                </a:solidFill>
                <a:latin typeface="Segoe UI"/>
              </a:rPr>
              <a:t>12. Mullins, O. C. et al. (2012): </a:t>
            </a:r>
            <a:r>
              <a:rPr sz="850" b="0">
                <a:solidFill>
                  <a:srgbClr val="E2E8F0"/>
                </a:solidFill>
                <a:latin typeface="Segoe UI"/>
              </a:rPr>
              <a:t>Advances in Asphaltene Science and the Modified Yen-Mullins Model. Energy &amp; Fuels, 26(7). [Colloidal Instability Index (CII)]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095" y="4023360"/>
            <a:ext cx="5212080" cy="2468880"/>
          </a:xfrm>
          <a:prstGeom prst="roundRect">
            <a:avLst/>
          </a:prstGeom>
          <a:solidFill>
            <a:srgbClr val="18243D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2687" y="4151376"/>
            <a:ext cx="4882896" cy="2212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A855F7"/>
                </a:solidFill>
                <a:latin typeface="Segoe UI"/>
              </a:rPr>
              <a:t>📗 STRUCTURAL RELIABILITY, AI &amp; ASSET LITERATURE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13. Miner, M. A. (1945): </a:t>
            </a:r>
            <a:r>
              <a:rPr sz="850" b="0">
                <a:solidFill>
                  <a:srgbClr val="E2E8F0"/>
                </a:solidFill>
                <a:latin typeface="Segoe UI"/>
              </a:rPr>
              <a:t>Cumulative Damage in Fatigue. J. Applied Mechanics, 12(3), A159-A164. [Linear cumulative fatigue damage rule D = ∑(n_i / N_i)]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14. Goodman, J. (1899): </a:t>
            </a:r>
            <a:r>
              <a:rPr sz="850" b="0">
                <a:solidFill>
                  <a:srgbClr val="E2E8F0"/>
                </a:solidFill>
                <a:latin typeface="Segoe UI"/>
              </a:rPr>
              <a:t>Mechanics Applied to Engineering. Longmans, Green &amp; Co., London. [Modified Goodman diagram for cyclic fatigue stress limit]</a:t>
            </a:r>
          </a:p>
          <a:p>
            <a:pPr>
              <a:spcBef>
                <a:spcPts val="100"/>
              </a:spcBef>
              <a:spcAft>
                <a:spcPts val="4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15. Breiman, L. (2001): </a:t>
            </a:r>
            <a:r>
              <a:rPr sz="850" b="0">
                <a:solidFill>
                  <a:srgbClr val="E2E8F0"/>
                </a:solidFill>
                <a:latin typeface="Segoe UI"/>
              </a:rPr>
              <a:t>Random Forests. Machine Learning, 45(1), 5-32. [Ensemble machine learning for dynamometer card pattern recognition]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A855F7"/>
                </a:solidFill>
                <a:latin typeface="Segoe UI"/>
              </a:rPr>
              <a:t>16. Oil India Limited (OIL): </a:t>
            </a:r>
            <a:r>
              <a:rPr sz="850" b="0">
                <a:solidFill>
                  <a:srgbClr val="E2E8F0"/>
                </a:solidFill>
                <a:latin typeface="Segoe UI"/>
              </a:rPr>
              <a:t>Studies on CSS and SRP in Bikaner-Nagaur Basin, Rajasthan. OIL Technical Publications. [Jodhpur Sandstone field calibration]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